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ln w="38100">
              <a:solidFill>
                <a:srgbClr val="FC8D42"/>
              </a:solidFill>
            </a:ln>
          </c:spPr>
          <c:marker>
            <c:size val="8"/>
            <c:spPr>
              <a:solidFill>
                <a:srgbClr val="FC8D42"/>
              </a:solidFill>
            </c:spPr>
          </c:marker>
          <c:cat>
            <c:strRef>
              <c:f>Sheet1!$A$2:$A$8</c:f>
              <c:strCache>
                <c:ptCount val="7"/>
                <c:pt idx="0">
                  <c:v>Sep 25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 26</c:v>
                </c:pt>
                <c:pt idx="5">
                  <c:v>Fev</c:v>
                </c:pt>
                <c:pt idx="6">
                  <c:v>Mar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931</c:v>
                </c:pt>
                <c:pt idx="1">
                  <c:v>1131</c:v>
                </c:pt>
                <c:pt idx="2">
                  <c:v>1467</c:v>
                </c:pt>
                <c:pt idx="3">
                  <c:v>1545</c:v>
                </c:pt>
                <c:pt idx="4">
                  <c:v>1785</c:v>
                </c:pt>
                <c:pt idx="5">
                  <c:v>1958</c:v>
                </c:pt>
                <c:pt idx="6">
                  <c:v>2028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C8D42"/>
            </a:solidFill>
          </c:spPr>
          <c:cat>
            <c:strRef>
              <c:f>Sheet1!$A$2:$A$8</c:f>
              <c:strCache>
                <c:ptCount val="7"/>
                <c:pt idx="0">
                  <c:v>Sep 25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 26</c:v>
                </c:pt>
                <c:pt idx="5">
                  <c:v>Fev</c:v>
                </c:pt>
                <c:pt idx="6">
                  <c:v>Mar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1039</c:v>
                </c:pt>
                <c:pt idx="1">
                  <c:v>1054</c:v>
                </c:pt>
                <c:pt idx="2">
                  <c:v>944</c:v>
                </c:pt>
                <c:pt idx="3">
                  <c:v>991</c:v>
                </c:pt>
                <c:pt idx="4">
                  <c:v>2769</c:v>
                </c:pt>
                <c:pt idx="5">
                  <c:v>2139</c:v>
                </c:pt>
                <c:pt idx="6">
                  <c:v>1782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FC8D42"/>
              </a:solidFill>
            </c:spPr>
          </c:dPt>
          <c:dPt>
            <c:idx val="1"/>
            <c:spPr>
              <a:solidFill>
                <a:srgbClr val="0096D6"/>
              </a:solidFill>
            </c:spPr>
          </c:dPt>
          <c:cat>
            <c:strRef>
              <c:f>Sheet1!$A$2:$A$3</c:f>
              <c:strCache>
                <c:ptCount val="2"/>
                <c:pt idx="0">
                  <c:v>Abonnement (61%)</c:v>
                </c:pt>
                <c:pt idx="1">
                  <c:v>Usage/Conso (39%)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5402</c:v>
                </c:pt>
                <c:pt idx="1">
                  <c:v>3505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MRR potentiel</c:v>
                </c:pt>
              </c:strCache>
            </c:strRef>
          </c:tx>
          <c:dPt>
            <c:idx val="0"/>
            <c:spPr>
              <a:solidFill>
                <a:srgbClr val="FC8D42"/>
              </a:solidFill>
            </c:spPr>
          </c:dPt>
          <c:dPt>
            <c:idx val="1"/>
            <c:spPr>
              <a:solidFill>
                <a:srgbClr val="FC8D42"/>
              </a:solidFill>
            </c:spPr>
          </c:dPt>
          <c:dPt>
            <c:idx val="2"/>
            <c:spPr>
              <a:solidFill>
                <a:srgbClr val="FC8D42"/>
              </a:solidFill>
            </c:spPr>
          </c:dPt>
          <c:dPt>
            <c:idx val="3"/>
            <c:spPr>
              <a:solidFill>
                <a:srgbClr val="0096D6"/>
              </a:solidFill>
            </c:spPr>
          </c:dPt>
          <c:dPt>
            <c:idx val="4"/>
            <c:spPr>
              <a:solidFill>
                <a:srgbClr val="2EA04F"/>
              </a:solidFill>
            </c:spPr>
          </c:dPt>
          <c:dPt>
            <c:idx val="5"/>
            <c:spPr>
              <a:solidFill>
                <a:srgbClr val="E04B4B"/>
              </a:solidFill>
            </c:spPr>
          </c:dPt>
          <c:cat>
            <c:strRef>
              <c:f>Sheet1!$A$2:$A$7</c:f>
              <c:strCache>
                <c:ptCount val="6"/>
                <c:pt idx="0">
                  <c:v>Lead (16)</c:v>
                </c:pt>
                <c:pt idx="1">
                  <c:v>Qualified (11)</c:v>
                </c:pt>
                <c:pt idx="2">
                  <c:v>Follow-up (17)</c:v>
                </c:pt>
                <c:pt idx="3">
                  <c:v>Trial (5)</c:v>
                </c:pt>
                <c:pt idx="4">
                  <c:v>Won (17)</c:v>
                </c:pt>
                <c:pt idx="5">
                  <c:v>Lost (28)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1099</c:v>
                </c:pt>
                <c:pt idx="1">
                  <c:v>659</c:v>
                </c:pt>
                <c:pt idx="2">
                  <c:v>6604</c:v>
                </c:pt>
                <c:pt idx="3">
                  <c:v>1208</c:v>
                </c:pt>
                <c:pt idx="4">
                  <c:v>423</c:v>
                </c:pt>
                <c:pt idx="5">
                  <c:v>2182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entury Gothic"/>
              </a:defRPr>
            </a:pPr>
            <a:r>
              <a:t>nosho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arianne"/>
              </a:defRPr>
            </a:pPr>
            <a:r>
              <a:t>CHARTE GRAPHIQUE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1D1B"/>
                </a:solidFill>
                <a:latin typeface="Century Gothic"/>
              </a:defRPr>
            </a:pPr>
            <a:r>
              <a:t>Analyse Financière</a:t>
            </a:r>
            <a:br/>
            <a:r>
              <a:t>&amp; Pipeline Commercial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926080"/>
            <a:ext cx="182880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D1D1B"/>
                </a:solidFill>
                <a:latin typeface="Marianne"/>
              </a:defRPr>
            </a:pPr>
            <a:r>
              <a:t>Board Review — Mars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7"/>
                </a:solidFill>
                <a:latin typeface="Marianne"/>
              </a:defRPr>
            </a:pPr>
            <a:r>
              <a:t>7 mois post-creation (28 aout 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7"/>
                </a:solidFill>
                <a:latin typeface="Marianne"/>
              </a:defRPr>
            </a:pPr>
            <a:r>
              <a:t>Sources : Mollie Payments + CRM Nosho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KPIs Financiers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7"/>
                </a:solidFill>
                <a:latin typeface="Marianne"/>
              </a:defRPr>
            </a:pPr>
            <a:r>
              <a:t>Vue d'ensemble — Mars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6576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2 028 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C8D42"/>
                </a:solidFill>
                <a:latin typeface="Marianne"/>
              </a:defRPr>
            </a:pPr>
            <a:r>
              <a:t>+3,6% MoM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5156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143000"/>
            <a:ext cx="36576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25272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508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24 339 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C8D42"/>
                </a:solidFill>
                <a:latin typeface="Marianne"/>
              </a:defRPr>
            </a:pPr>
            <a:r>
              <a:t>MRR x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05156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143000"/>
            <a:ext cx="36576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25272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Clients actifs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508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96D6"/>
                </a:solidFill>
                <a:latin typeface="Marianne"/>
              </a:defRPr>
            </a:pPr>
            <a:r>
              <a:t>0% churn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05156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36576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25272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ARPU (plan)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508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53 EUR/mois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96D6"/>
                </a:solidFill>
                <a:latin typeface="Marianne"/>
              </a:defRPr>
            </a:pPr>
            <a:r>
              <a:t>Hors usage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05156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1143000"/>
            <a:ext cx="36576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25272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Revenue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1508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10 717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C8D42"/>
                </a:solidFill>
                <a:latin typeface="Marianne"/>
              </a:defRPr>
            </a:pPr>
            <a:r>
              <a:t>Depuis sept. 2025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05156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143000"/>
            <a:ext cx="36576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25272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Revenue mars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150876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1 782 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C8D42"/>
                </a:solidFill>
                <a:latin typeface="Marianne"/>
              </a:defRPr>
            </a:pPr>
            <a:r>
              <a:t>En cours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B"/>
                </a:solidFill>
                <a:latin typeface="Century Gothic"/>
              </a:defRPr>
            </a:pPr>
            <a:r>
              <a:t>Evolution MRR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365760" y="2834640"/>
          <a:ext cx="56692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B"/>
                </a:solidFill>
                <a:latin typeface="Century Gothic"/>
              </a:defRPr>
            </a:pPr>
            <a:r>
              <a:t>Revenue mensuel encaisse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400800" y="2834640"/>
          <a:ext cx="53035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Modele de Revenue — Hybride Abo + Usage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97280"/>
          <a:ext cx="5029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0" y="1188720"/>
            <a:ext cx="6035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188720"/>
            <a:ext cx="54864" cy="1234440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B"/>
                </a:solidFill>
                <a:latin typeface="Century Gothic"/>
              </a:defRPr>
            </a:pPr>
            <a:r>
              <a:t>Net Revenue Expansion naturel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Le pay-per-use cree un NRR &gt; 100% sans effort commercial. Les top comptes depensent 2-4x leur plan de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51760"/>
            <a:ext cx="6035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2651760"/>
            <a:ext cx="54864" cy="1234440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B"/>
                </a:solidFill>
                <a:latin typeface="Century Gothic"/>
              </a:defRPr>
            </a:pPr>
            <a:r>
              <a:t>Modele valide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154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Le Labo du Sourire (plan 69,99 EUR) a genere 1 914 EUR de revenue total, soit 27x son plan mensuel.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6035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4114800"/>
            <a:ext cx="54864" cy="1234440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B"/>
                </a:solidFill>
                <a:latin typeface="Century Gothic"/>
              </a:defRPr>
            </a:pPr>
            <a:r>
              <a:t>Trajectoire Twilio/Stripe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617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Le modele hybride abo + usage est le playbook des SaaS qui scalent le mieux.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B"/>
                </a:solidFill>
                <a:latin typeface="Century Gothic"/>
              </a:defRPr>
            </a:pPr>
            <a:r>
              <a:t>Top 5 comptes par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68112"/>
            <a:ext cx="11338560" cy="274320"/>
          </a:xfrm>
          <a:prstGeom prst="rect">
            <a:avLst/>
          </a:prstGeom>
          <a:solidFill>
            <a:srgbClr val="FE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C8D42"/>
                </a:solidFill>
                <a:latin typeface="Marianne"/>
              </a:defRPr>
            </a:pPr>
            <a:r>
              <a:t>Compte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C8D42"/>
                </a:solidFill>
                <a:latin typeface="Marianne"/>
              </a:defRPr>
            </a:pPr>
            <a:r>
              <a:t>Revenue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C8D42"/>
                </a:solidFill>
                <a:latin typeface="Marianne"/>
              </a:defRPr>
            </a:pPr>
            <a:r>
              <a:t>Modele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C8D42"/>
                </a:solidFill>
                <a:latin typeface="Marianne"/>
              </a:defRPr>
            </a:pPr>
            <a:r>
              <a:t>Plan mensuel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790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Le Labo du Sourire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7790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1 914 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7790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Pay-per-use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7790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69,99 EUR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017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So Clinic Aubagne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908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Pay-per-use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76,50 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8134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Mathieu Chautard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61813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757 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61813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Forfait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61813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90,00 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8251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Dr Benmansour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382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747 EUR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6382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Pay-per-use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6382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70,00 EUR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So Clinic Lille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709 EUR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Pay-per-use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1D1B"/>
                </a:solidFill>
                <a:latin typeface="Marianne"/>
              </a:defRPr>
            </a:pPr>
            <a:r>
              <a:t>99,00 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Pipeline Commercial — CRM Nosho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7"/>
                </a:solidFill>
                <a:latin typeface="Marianne"/>
              </a:defRPr>
            </a:pPr>
            <a:r>
              <a:t>Donnees extraites du CRM crm.nosho.cc au 16 mars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36576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Deals actifs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C8D42"/>
                </a:solidFill>
                <a:latin typeface="Marianne"/>
              </a:defRPr>
            </a:pPr>
            <a:r>
              <a:t>dans le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0584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097280"/>
            <a:ext cx="36576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2070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Pipe brut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9 570 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874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C8D42"/>
                </a:solidFill>
                <a:latin typeface="Marianne"/>
              </a:defRPr>
            </a:pPr>
            <a:r>
              <a:t>valeur totale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00584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097280"/>
            <a:ext cx="36576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2070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Pipe pondere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4 999 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874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96D6"/>
                </a:solidFill>
                <a:latin typeface="Marianne"/>
              </a:defRPr>
            </a:pPr>
            <a:r>
              <a:t>= 2,5x MRR actuel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00584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97280"/>
            <a:ext cx="36576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2070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37,8%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874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96D6"/>
                </a:solidFill>
                <a:latin typeface="Marianne"/>
              </a:defRPr>
            </a:pPr>
            <a:r>
              <a:t>benchmark: 20-40%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00584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1097280"/>
            <a:ext cx="365760" cy="36576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2070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Contacts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234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1874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C8D42"/>
                </a:solidFill>
                <a:latin typeface="Marianne"/>
              </a:defRPr>
            </a:pPr>
            <a:r>
              <a:t>68% cold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00584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097280"/>
            <a:ext cx="365760" cy="36576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2070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Trials en cours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1874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A04F"/>
                </a:solidFill>
                <a:latin typeface="Marianne"/>
              </a:defRPr>
            </a:pPr>
            <a:r>
              <a:t>1 208 EUR MRR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365760" y="2468880"/>
          <a:ext cx="64008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1323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1D1B"/>
                </a:solidFill>
                <a:latin typeface="Century Gothic"/>
              </a:defRPr>
            </a:pPr>
            <a:r>
              <a:t>Faits cles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99923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926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Pipe pondere = 2,5x le MRR actuel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474720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34015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ARPU pipe (191 EUR) = 7,7x ARPU won (25 EUR)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3950208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38770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5 deals a 500 EUR+/mois dans le funnel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425696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435254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17 deals en follow-up = 6 604 EUR MRR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4901184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8280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20 closings attendus en mars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537667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303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5 trials hopitaux/groupements en cours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5852160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57790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68% des contacts encore cold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Le virage strategique — Du cabinet solo a l'institutionnel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029200" cy="54864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9997"/>
                </a:solidFill>
                <a:latin typeface="Century Gothic"/>
              </a:defRPr>
            </a:pPr>
            <a:r>
              <a:t>Hier — Clients signes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ARPU moyen : 25 EUR/mois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Cabinets dentaires individuels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19272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Orthodontistes, cardiologues solo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22191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Plans 39,99 EUR - 69,99 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25112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1-2 praticiens par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28032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Deal max gagne : 72 EUR/mois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5295" y="109728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8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05295" y="1097280"/>
            <a:ext cx="5029200" cy="548640"/>
          </a:xfrm>
          <a:prstGeom prst="rect">
            <a:avLst/>
          </a:prstGeom>
          <a:solidFill>
            <a:srgbClr val="FE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8175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8D42"/>
                </a:solidFill>
                <a:latin typeface="Century Gothic"/>
              </a:defRPr>
            </a:pPr>
            <a:r>
              <a:t>Demain — Pipeline actif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8175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1D1B"/>
                </a:solidFill>
                <a:latin typeface="Century Gothic"/>
              </a:defRPr>
            </a:pPr>
            <a:r>
              <a:t>ARPU moyen : 191 EUR/mois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81635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Oxance — Groupement (2 500 EUR/mois)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31927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154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DocCity — Maisons de sante (1 764 EUR/mois)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822191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657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GHICL — Hopital universitaire (590 EUR/mois)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32511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AP-HM — CHU Marseille (520 EUR/mois)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482803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Ramsay Sante — Groupe hospitalier (650 EUR/mois)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2926080"/>
            <a:ext cx="1920240" cy="1097280"/>
          </a:xfrm>
          <a:prstGeom prst="round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entury Gothic"/>
              </a:defRPr>
            </a:pPr>
            <a:r>
              <a:t>x 7,7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520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arianne"/>
              </a:defRPr>
            </a:pPr>
            <a:r>
              <a:t>ARPU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Projections MRR — Scenarios Q2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5661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566160" cy="54864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97"/>
                </a:solidFill>
                <a:latin typeface="Century Gothic"/>
              </a:defRPr>
            </a:pPr>
            <a:r>
              <a:t>Conservateur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7"/>
                </a:solidFill>
                <a:latin typeface="Marianne"/>
              </a:defRPr>
            </a:pPr>
            <a:r>
              <a:t>Win rate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MRR fin 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3 500 - 4 000 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63240"/>
            <a:ext cx="1097280" cy="320040"/>
          </a:xfrm>
          <a:prstGeom prst="round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+73%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22191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Win rate 30% sur pipe pondere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79392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+ 1 500 EUR new MRR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36592"/>
            <a:ext cx="73152" cy="73152"/>
          </a:xfrm>
          <a:prstGeom prst="rect">
            <a:avLst/>
          </a:prstGeom>
          <a:solidFill>
            <a:srgbClr val="99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Pas de gros compte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005840"/>
            <a:ext cx="35661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005840"/>
            <a:ext cx="356616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entury Gothic"/>
              </a:defRPr>
            </a:pPr>
            <a:r>
              <a:t>Median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7"/>
                </a:solidFill>
                <a:latin typeface="Marianne"/>
              </a:defRPr>
            </a:pPr>
            <a:r>
              <a:t>Win rate 38% + 1 gros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945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MRR fin Q2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4 500 - 5 500 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063240"/>
            <a:ext cx="109728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+122%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822191"/>
            <a:ext cx="73152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Conversions normales +1 900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4279392"/>
            <a:ext cx="73152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1 trial hopital +450 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4736592"/>
            <a:ext cx="73152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MRR double en 3 mois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005840"/>
            <a:ext cx="356616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1005840"/>
            <a:ext cx="3566160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C8D42"/>
                </a:solidFill>
                <a:latin typeface="Century Gothic"/>
              </a:defRPr>
            </a:pPr>
            <a:r>
              <a:t>Optimiste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7"/>
                </a:solidFill>
                <a:latin typeface="Marianne"/>
              </a:defRPr>
            </a:pPr>
            <a:r>
              <a:t>Oxance ou DocCity signe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1945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7"/>
                </a:solidFill>
                <a:latin typeface="Marianne"/>
              </a:defRPr>
            </a:pPr>
            <a:r>
              <a:t>MRR fin Q2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5 500 - 7 000 EUR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3063240"/>
            <a:ext cx="1097280" cy="320040"/>
          </a:xfrm>
          <a:prstGeom prst="round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+245%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3822191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1 gros groupement +2 500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27939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Conversions normales +1 500 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4736592"/>
            <a:ext cx="73152" cy="73152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1D1B"/>
                </a:solidFill>
                <a:latin typeface="Marianne"/>
              </a:defRPr>
            </a:pPr>
            <a:r>
              <a:t>ARR &gt; 70k 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Benchmarks SaaS B2B — Nosho vs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4114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rianne"/>
              </a:defRPr>
            </a:pPr>
            <a:r>
              <a:t>Jalon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rianne"/>
              </a:defRPr>
            </a:pPr>
            <a:r>
              <a:t>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rianne"/>
              </a:defRPr>
            </a:pPr>
            <a:r>
              <a:t>Nosho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rianne"/>
              </a:defRPr>
            </a:pPr>
            <a:r>
              <a:t>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1338560" cy="530352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Product-Market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&lt; 6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Mois 1 (19 clients)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18488"/>
            <a:ext cx="1463040" cy="292608"/>
          </a:xfrm>
          <a:prstGeom prst="round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Excellent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67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MRR a 6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67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1-5k 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167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2 028 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185416"/>
            <a:ext cx="1463040" cy="292608"/>
          </a:xfrm>
          <a:prstGeom prst="round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Dans la norme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88336"/>
            <a:ext cx="11338560" cy="530352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340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Croissance MoM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7340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10-20%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7340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~12-15%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752344"/>
            <a:ext cx="1463040" cy="292608"/>
          </a:xfrm>
          <a:prstGeom prst="round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761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Correct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00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Churn mensuel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300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&lt; 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300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~0%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319272"/>
            <a:ext cx="1463040" cy="292608"/>
          </a:xfrm>
          <a:prstGeom prst="round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328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Tres bien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822192"/>
            <a:ext cx="11338560" cy="530352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867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Net Revenue Retention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&gt;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867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&gt; 100% (usage)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886200"/>
            <a:ext cx="1463040" cy="292608"/>
          </a:xfrm>
          <a:prstGeom prst="round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8953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Tres bien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Pipe/MRR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2-4x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2,5x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453128"/>
            <a:ext cx="1463040" cy="292608"/>
          </a:xfrm>
          <a:prstGeom prst="round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4622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Sain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956048"/>
            <a:ext cx="11338560" cy="530352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001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Win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001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20-40%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001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37,8%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5020056"/>
            <a:ext cx="1463040" cy="292608"/>
          </a:xfrm>
          <a:prstGeom prst="round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Correct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5686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1D1B"/>
                </a:solidFill>
                <a:latin typeface="Marianne"/>
              </a:defRPr>
            </a:pPr>
            <a:r>
              <a:t>Time to 10k MRR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5686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4"/>
                </a:solidFill>
                <a:latin typeface="Marianne"/>
              </a:defRPr>
            </a:pPr>
            <a:r>
              <a:t>12-18 mois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5686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Marianne"/>
              </a:defRPr>
            </a:pPr>
            <a:r>
              <a:t>Proj. 12-18m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5586984"/>
            <a:ext cx="1463040" cy="292608"/>
          </a:xfrm>
          <a:prstGeom prst="round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5596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rianne"/>
              </a:defRPr>
            </a:pPr>
            <a:r>
              <a:t>En bonne voie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1D1B"/>
                </a:solidFill>
                <a:latin typeface="Century Gothic"/>
              </a:defRPr>
            </a:pPr>
            <a:r>
              <a:t>Risques &amp; Recommandations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669280" cy="4572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B4B"/>
                </a:solidFill>
                <a:latin typeface="Century Gothic"/>
              </a:defRPr>
            </a:pPr>
            <a:r>
              <a:t>Risques identifies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1005840"/>
          </a:xfrm>
          <a:prstGeom prst="rect">
            <a:avLst/>
          </a:prstGeom>
          <a:solidFill>
            <a:srgbClr val="E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Concentration pipe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Oxance + DocCity = 45% du pipe.</a:t>
            </a:r>
            <a:br/>
            <a:r>
              <a:t>Si ces 2 deals tombent, impact fort.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4864" cy="1005840"/>
          </a:xfrm>
          <a:prstGeom prst="rect">
            <a:avLst/>
          </a:prstGeom>
          <a:solidFill>
            <a:srgbClr val="E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Capacite commerciale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96 deals, 234 contacts mais 4 tasks overdue</a:t>
            </a:r>
            <a:br/>
            <a:r>
              <a:t>et seulement 8 deal notes ce mois.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54864" cy="1005840"/>
          </a:xfrm>
          <a:prstGeom prst="rect">
            <a:avLst/>
          </a:prstGeom>
          <a:solidFill>
            <a:srgbClr val="E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Acquisition post-lancement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3-4 clients/mois apres les 19 du launch.</a:t>
            </a:r>
            <a:br/>
            <a:r>
              <a:t>Funnel inbound limite.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12080"/>
            <a:ext cx="54864" cy="1005840"/>
          </a:xfrm>
          <a:prstGeom prst="rect">
            <a:avLst/>
          </a:prstGeom>
          <a:solidFill>
            <a:srgbClr val="E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Contacts froids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68% des contacts sont cold.</a:t>
            </a:r>
            <a:br/>
            <a:r>
              <a:t>Rechauffement trop lent.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solidFill>
            <a:srgbClr val="E4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F"/>
                </a:solidFill>
                <a:latin typeface="Century Gothic"/>
              </a:defRPr>
            </a:pPr>
            <a:r>
              <a:t>Recommandations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54864" cy="100584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Renfort commercial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0116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Recruter 1 SDR/BDR pour alimenter le funnel</a:t>
            </a:r>
            <a:br/>
            <a:r>
              <a:t>et liberer du temps pour closer.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834640"/>
            <a:ext cx="54864" cy="100584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880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Nurturing automatise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2004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Sequences email pour rechauffer</a:t>
            </a:r>
            <a:br/>
            <a:r>
              <a:t>les 160 contacts cold.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23360"/>
            <a:ext cx="54864" cy="100584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Focus gros comptes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3891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Prioriser les 5 deals a 500 EUR+.</a:t>
            </a:r>
            <a:br/>
            <a:r>
              <a:t>Chaque conversion = +25-125% MRR.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212080"/>
            <a:ext cx="54864" cy="1005840"/>
          </a:xfrm>
          <a:prstGeom prst="rect">
            <a:avLst/>
          </a:prstGeom>
          <a:solidFill>
            <a:srgbClr val="2EA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1D1B"/>
                </a:solidFill>
                <a:latin typeface="Century Gothic"/>
              </a:defRPr>
            </a:pPr>
            <a:r>
              <a:t>Accelerer les trials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5778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4"/>
                </a:solidFill>
                <a:latin typeface="Marianne"/>
              </a:defRPr>
            </a:pPr>
            <a:r>
              <a:t>5 trials = 1 208 EUR MRR potentiel.</a:t>
            </a:r>
            <a:br/>
            <a:r>
              <a:t>Reduire le cycle trial -&gt; conversion.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entury Gothic"/>
              </a:defRPr>
            </a:pPr>
            <a:r>
              <a:t>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arianne"/>
              </a:defRPr>
            </a:pPr>
            <a:r>
              <a:t>Confiant, avec un point d'inflexion imminent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5176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3566160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B"/>
                </a:solidFill>
                <a:latin typeface="Century Gothic"/>
              </a:defRPr>
            </a:pPr>
            <a:r>
              <a:t>Modele hybride valide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4"/>
                </a:solidFill>
                <a:latin typeface="Marianne"/>
              </a:defRPr>
            </a:pPr>
            <a:r>
              <a:t>NRR &gt; 100% naturel. Le Labo du Sourire a genere 27x son plan mensuel.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65176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651760"/>
            <a:ext cx="3566160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B"/>
                </a:solidFill>
                <a:latin typeface="Century Gothic"/>
              </a:defRPr>
            </a:pPr>
            <a:r>
              <a:t>Shift upmarket confirme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4"/>
                </a:solidFill>
                <a:latin typeface="Marianne"/>
              </a:defRPr>
            </a:pPr>
            <a:r>
              <a:t>ARPU pipe (191 EUR) = 7,7x ARPU won (25 EUR). Des hopitaux et groupements dans le funnel.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65176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566160" cy="54864"/>
          </a:xfrm>
          <a:prstGeom prst="rect">
            <a:avLst/>
          </a:prstGeom>
          <a:solidFill>
            <a:srgbClr val="FC8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1D1B"/>
                </a:solidFill>
                <a:latin typeface="Century Gothic"/>
              </a:defRPr>
            </a:pPr>
            <a:r>
              <a:t>Pipeline solide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00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4"/>
                </a:solidFill>
                <a:latin typeface="Marianne"/>
              </a:defRPr>
            </a:pPr>
            <a:r>
              <a:t>5 000 EUR MRR pondere = 2,5x le MRR. Doublement realiste d'ici fin Q2.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7F7F5"/>
          </a:solidFill>
          <a:ln w="1270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D1D1B"/>
                </a:solidFill>
                <a:latin typeface="Marianne"/>
              </a:defRPr>
            </a:pPr>
            <a:r>
              <a:t>Le facteur limitant n'est ni le produit ni le marche — c'est la capacite commerciale. Un renfort commercial ou un investissement outbound serait le meilleur accelerateur. Trajectoire comparable aux meilleurs SaaS B2B vertical sante a ce stade.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7"/>
                </a:solidFill>
                <a:latin typeface="Century Gothic"/>
              </a:defRPr>
            </a:pPr>
            <a:r>
              <a:t>nosho  —  Board Review Mars 2026  —  Donnees Mollie + CRM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