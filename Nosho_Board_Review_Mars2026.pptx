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(€)</c:v>
                </c:pt>
              </c:strCache>
            </c:strRef>
          </c:tx>
          <c:spPr>
            <a:ln w="38100">
              <a:solidFill>
                <a:srgbClr val="509EE3"/>
              </a:solidFill>
            </a:ln>
          </c:spPr>
          <c:cat>
            <c:strRef>
              <c:f>Sheet1!$A$2:$A$8</c:f>
              <c:strCache>
                <c:ptCount val="7"/>
                <c:pt idx="0">
                  <c:v>Sep</c:v>
                </c:pt>
                <c:pt idx="1">
                  <c:v>Oct</c:v>
                </c:pt>
                <c:pt idx="2">
                  <c:v>Nov</c:v>
                </c:pt>
                <c:pt idx="3">
                  <c:v>Déc</c:v>
                </c:pt>
                <c:pt idx="4">
                  <c:v>Jan</c:v>
                </c:pt>
                <c:pt idx="5">
                  <c:v>Fév</c:v>
                </c:pt>
                <c:pt idx="6">
                  <c:v>Mar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931</c:v>
                </c:pt>
                <c:pt idx="1">
                  <c:v>1131</c:v>
                </c:pt>
                <c:pt idx="2">
                  <c:v>1467</c:v>
                </c:pt>
                <c:pt idx="3">
                  <c:v>1545</c:v>
                </c:pt>
                <c:pt idx="4">
                  <c:v>1785</c:v>
                </c:pt>
                <c:pt idx="5">
                  <c:v>1958</c:v>
                </c:pt>
                <c:pt idx="6">
                  <c:v>2028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(€)</c:v>
                </c:pt>
              </c:strCache>
            </c:strRef>
          </c:tx>
          <c:spPr>
            <a:solidFill>
              <a:srgbClr val="88BF4D"/>
            </a:solidFill>
          </c:spPr>
          <c:cat>
            <c:strRef>
              <c:f>Sheet1!$A$2:$A$8</c:f>
              <c:strCache>
                <c:ptCount val="7"/>
                <c:pt idx="0">
                  <c:v>Sep</c:v>
                </c:pt>
                <c:pt idx="1">
                  <c:v>Oct</c:v>
                </c:pt>
                <c:pt idx="2">
                  <c:v>Nov</c:v>
                </c:pt>
                <c:pt idx="3">
                  <c:v>Déc</c:v>
                </c:pt>
                <c:pt idx="4">
                  <c:v>Jan</c:v>
                </c:pt>
                <c:pt idx="5">
                  <c:v>Fév</c:v>
                </c:pt>
                <c:pt idx="6">
                  <c:v>Mar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1039</c:v>
                </c:pt>
                <c:pt idx="1">
                  <c:v>1054</c:v>
                </c:pt>
                <c:pt idx="2">
                  <c:v>944</c:v>
                </c:pt>
                <c:pt idx="3">
                  <c:v>991</c:v>
                </c:pt>
                <c:pt idx="4">
                  <c:v>2769</c:v>
                </c:pt>
                <c:pt idx="5">
                  <c:v>2139</c:v>
                </c:pt>
                <c:pt idx="6">
                  <c:v>1782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spPr>
              <a:solidFill>
                <a:srgbClr val="509EE3"/>
              </a:solidFill>
            </c:spPr>
          </c:dPt>
          <c:dPt>
            <c:idx val="1"/>
            <c:spPr>
              <a:solidFill>
                <a:srgbClr val="EF8C8C"/>
              </a:solidFill>
            </c:spPr>
          </c:dPt>
          <c:cat>
            <c:strRef>
              <c:f>Sheet1!$A$2:$A$3</c:f>
              <c:strCache>
                <c:ptCount val="2"/>
                <c:pt idx="0">
                  <c:v>Abonnement</c:v>
                </c:pt>
                <c:pt idx="1">
                  <c:v>Usage/Conso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5402</c:v>
                </c:pt>
                <c:pt idx="1">
                  <c:v>3505</c:v>
                </c:pt>
              </c:numCache>
            </c:numRef>
          </c:val>
        </c:ser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Deals</c:v>
                </c:pt>
              </c:strCache>
            </c:strRef>
          </c:tx>
          <c:spPr>
            <a:solidFill>
              <a:srgbClr val="509EE3"/>
            </a:solidFill>
          </c:spPr>
          <c:cat>
            <c:strRef>
              <c:f>Sheet1!$A$2:$A$7</c:f>
              <c:strCache>
                <c:ptCount val="6"/>
                <c:pt idx="0">
                  <c:v>Lead</c:v>
                </c:pt>
                <c:pt idx="1">
                  <c:v>Qualified</c:v>
                </c:pt>
                <c:pt idx="2">
                  <c:v>Follow-up</c:v>
                </c:pt>
                <c:pt idx="3">
                  <c:v>Trial</c:v>
                </c:pt>
                <c:pt idx="4">
                  <c:v>Won</c:v>
                </c:pt>
                <c:pt idx="5">
                  <c:v>Lost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17</c:v>
                </c:pt>
                <c:pt idx="3">
                  <c:v>5</c:v>
                </c:pt>
                <c:pt idx="4">
                  <c:v>17</c:v>
                </c:pt>
                <c:pt idx="5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 (€)</c:v>
                </c:pt>
              </c:strCache>
            </c:strRef>
          </c:tx>
          <c:spPr>
            <a:solidFill>
              <a:srgbClr val="88BF4D"/>
            </a:solidFill>
          </c:spPr>
          <c:cat>
            <c:strRef>
              <c:f>Sheet1!$A$2:$A$7</c:f>
              <c:strCache>
                <c:ptCount val="6"/>
                <c:pt idx="0">
                  <c:v>Lead</c:v>
                </c:pt>
                <c:pt idx="1">
                  <c:v>Qualified</c:v>
                </c:pt>
                <c:pt idx="2">
                  <c:v>Follow-up</c:v>
                </c:pt>
                <c:pt idx="3">
                  <c:v>Trial</c:v>
                </c:pt>
                <c:pt idx="4">
                  <c:v>Won</c:v>
                </c:pt>
                <c:pt idx="5">
                  <c:v>Lost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1099</c:v>
                </c:pt>
                <c:pt idx="1">
                  <c:v>659</c:v>
                </c:pt>
                <c:pt idx="2">
                  <c:v>6604</c:v>
                </c:pt>
                <c:pt idx="3">
                  <c:v>1208</c:v>
                </c:pt>
                <c:pt idx="4">
                  <c:v>423</c:v>
                </c:pt>
                <c:pt idx="5">
                  <c:v>2182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509EE3"/>
                </a:solidFill>
                <a:latin typeface="Calibri"/>
              </a:defRPr>
            </a:pPr>
            <a:r>
              <a:t>NOSHO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Analyse Financière &amp; Pipeline Commercial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Board Review — Mars 2026 | 7 mois post-création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200400"/>
            <a:ext cx="4876495" cy="36576"/>
          </a:xfrm>
          <a:prstGeom prst="rect">
            <a:avLst/>
          </a:prstGeom>
          <a:solidFill>
            <a:srgbClr val="509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KPIs Financiers — Vue d'ensemble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509EE3"/>
                </a:solidFill>
                <a:latin typeface="Calibri"/>
              </a:defRPr>
            </a:pPr>
            <a:r>
              <a:t>2 028 €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BF4D"/>
                </a:solidFill>
                <a:latin typeface="Calibri"/>
              </a:defRPr>
            </a:pPr>
            <a:r>
              <a:t>24 339 €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Clients actifs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A989C5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ARPU (plan)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9D45C"/>
                </a:solidFill>
                <a:latin typeface="Calibri"/>
              </a:defRPr>
            </a:pPr>
            <a:r>
              <a:t>53 €/mois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Revenue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509EE3"/>
                </a:solidFill>
                <a:latin typeface="Calibri"/>
              </a:defRPr>
            </a:pPr>
            <a:r>
              <a:t>10 717 €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09728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1234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Revenue mars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155448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BF4D"/>
                </a:solidFill>
                <a:latin typeface="Calibri"/>
              </a:defRPr>
            </a:pPr>
            <a:r>
              <a:t>1 782 €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Évolution MRR (sept 2025 → mars 2026)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292608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217920" y="2377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Composition du Revenue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217920" y="2926080"/>
          <a:ext cx="54864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Modèle de Revenue — Hybride Abo + Usage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097280"/>
          <a:ext cx="5029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943600" y="1280160"/>
            <a:ext cx="576072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BF4D"/>
                </a:solidFill>
                <a:latin typeface="Calibri"/>
              </a:defRPr>
            </a:pPr>
            <a:r>
              <a:t>61% Abonnement + 39% Usage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Le modèle hybride crée un NRR &gt; 100% naturellement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743200"/>
            <a:ext cx="576072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BF4D"/>
                </a:solidFill>
                <a:latin typeface="Calibri"/>
              </a:defRPr>
            </a:pPr>
            <a:r>
              <a:t>Pay-per-use = expansion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32918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Les top comptes dépensent 2-4x leur plan de 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4206240"/>
            <a:ext cx="576072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4343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BF4D"/>
                </a:solidFill>
                <a:latin typeface="Calibri"/>
              </a:defRPr>
            </a:pPr>
            <a:r>
              <a:t>Modèle validé par le marché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7548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C'est le playbook Twilio/Stripe/AWS adapté au médical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Top 5 comptes par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899AA"/>
                </a:solidFill>
                <a:latin typeface="Calibri"/>
              </a:defRPr>
            </a:pPr>
            <a:r>
              <a:t>Compte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899AA"/>
                </a:solidFill>
                <a:latin typeface="Calibri"/>
              </a:defRPr>
            </a:pPr>
            <a:r>
              <a:t>Revenue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899AA"/>
                </a:solidFill>
                <a:latin typeface="Calibri"/>
              </a:defRPr>
            </a:pPr>
            <a:r>
              <a:t>Modèle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899AA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Le Labo du Sourire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760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1 914 €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5760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Pay-per-use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760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69,99 €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618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So Clinic Aubagne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9618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908 €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9618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Pay-per-use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9618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76,50 €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16305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Mathieu Chautard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16305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757 €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616305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Forfait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616305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90,00 €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36422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Dr Benmansour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64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747 €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364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Pay-per-use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364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70,00 €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56539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So Clinic Lille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65653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709 €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5653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Pay-per-use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65653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CCDD"/>
                </a:solidFill>
                <a:latin typeface="Calibri"/>
              </a:defRPr>
            </a:pPr>
            <a:r>
              <a:t>99,00 €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Pipeline Commercial — CRM Nosho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Deals actifs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509EE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Pipe brut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BF4D"/>
                </a:solidFill>
                <a:latin typeface="Calibri"/>
              </a:defRPr>
            </a:pPr>
            <a:r>
              <a:t>9 570 €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Pipe pondéré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A989C5"/>
                </a:solidFill>
                <a:latin typeface="Calibri"/>
              </a:defRPr>
            </a:pPr>
            <a:r>
              <a:t>4 999 €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Win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9D45C"/>
                </a:solidFill>
                <a:latin typeface="Calibri"/>
              </a:defRPr>
            </a:pPr>
            <a:r>
              <a:t>37,8%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Contacts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509EE3"/>
                </a:solidFill>
                <a:latin typeface="Calibri"/>
              </a:defRPr>
            </a:pPr>
            <a:r>
              <a:t>234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005840"/>
            <a:ext cx="17830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1143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Trials en cours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146304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F8C8C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237744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21792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Insights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Pipe pondéré = 2,5x MRR actuel (ratio sain)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4015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ARPU pipe (191€) = 7,7x ARPU won (25€) → shift upmarket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877056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5 deals à 500€+/mois dans le funnel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5254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17 deals en follow-up = 6 604€ MRR potentiel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82803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20 closings attendus en mars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5 trials hôpitaux/groupements en cours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779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  68% des contacts encore cold → réservoir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Le virage stratégique — Du cabinet solo à l'institutionnel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03520" cy="53035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899AA"/>
                </a:solidFill>
                <a:latin typeface="Calibri"/>
              </a:defRPr>
            </a:pPr>
            <a:r>
              <a:t>Hier — Clients signés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F8C8C"/>
                </a:solidFill>
                <a:latin typeface="Calibri"/>
              </a:defRPr>
            </a:pPr>
            <a:r>
              <a:t>ARPU moyen : 25 €/mois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Cabinets dentaires individuels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Orthodontistes, cardiologues solo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Plans 39,99€ - 69,99€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1-2 praticiens par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Deal max gagné : 72€/mois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303520" cy="53035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A3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8BF4D"/>
                </a:solidFill>
                <a:latin typeface="Calibri"/>
              </a:defRPr>
            </a:pPr>
            <a:r>
              <a:t>Demain — Pipeline actif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BF4D"/>
                </a:solidFill>
                <a:latin typeface="Calibri"/>
              </a:defRPr>
            </a:pPr>
            <a:r>
              <a:t>ARPU moyen : 191 €/mois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Oxance — Groupement dentaire (2 500€/mois)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DocCity — Maisons de santé (1 764€/mois)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474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GHICL — Hôpital universitaire (590€/mois)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AP-HM — CHU Marseille (520€/mois)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  Ramsay Santé — Groupe hospitalier (650€/mois)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00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9D45C"/>
                </a:solidFill>
                <a:latin typeface="Calibri"/>
              </a:defRPr>
            </a:pPr>
            <a:r>
              <a:t>x7,7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Projections MRR — Scénarios Q2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5029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EF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F8C8C"/>
                </a:solidFill>
                <a:latin typeface="Calibri"/>
              </a:defRPr>
            </a:pPr>
            <a:r>
              <a:t>Conservateur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Win rate 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MRR fin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F8C8C"/>
                </a:solidFill>
                <a:latin typeface="Calibri"/>
              </a:defRPr>
            </a:pPr>
            <a:r>
              <a:t>3 500 - 4 000 €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CCDD"/>
                </a:solidFill>
                <a:latin typeface="Calibri"/>
              </a:defRPr>
            </a:pPr>
            <a:r>
              <a:t>+73% vs actuel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Win rate 30% sur pipe pondéré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+1 500€ new MRR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Pas de gros compte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097280"/>
            <a:ext cx="3566160" cy="5029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F9D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9D45C"/>
                </a:solidFill>
                <a:latin typeface="Calibri"/>
              </a:defRPr>
            </a:pPr>
            <a:r>
              <a:t>Médian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Win rate 38% + 1 gros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MRR fin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9D45C"/>
                </a:solidFill>
                <a:latin typeface="Calibri"/>
              </a:defRPr>
            </a:pPr>
            <a:r>
              <a:t>4 500 - 5 500 €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CCDD"/>
                </a:solidFill>
                <a:latin typeface="Calibri"/>
              </a:defRPr>
            </a:pPr>
            <a:r>
              <a:t>+122% vs actuel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Conversions normales +1 900€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51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1 trial hôpital converti +450€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63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MRR doublé en 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097280"/>
            <a:ext cx="3566160" cy="5029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88B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8BF4D"/>
                </a:solidFill>
                <a:latin typeface="Calibri"/>
              </a:defRPr>
            </a:pPr>
            <a:r>
              <a:t>Optimiste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Oxance ou DocCity signe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99AA"/>
                </a:solidFill>
                <a:latin typeface="Calibri"/>
              </a:defRPr>
            </a:pPr>
            <a:r>
              <a:t>MRR fin Q2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8BF4D"/>
                </a:solidFill>
                <a:latin typeface="Calibri"/>
              </a:defRPr>
            </a:pPr>
            <a:r>
              <a:t>5 500 - 7 000 €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CCDD"/>
                </a:solidFill>
                <a:latin typeface="Calibri"/>
              </a:defRPr>
            </a:pPr>
            <a:r>
              <a:t>+245% vs actuel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1 gros groupement +1 764-2 500€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251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Conversions normales +1 500€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663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  ARR &gt; 70k€ d'ici été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Benchmarks SaaS B2B — Nosho vs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99AA"/>
                </a:solidFill>
                <a:latin typeface="Calibri"/>
              </a:defRPr>
            </a:pPr>
            <a:r>
              <a:t>Jalon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99A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99AA"/>
                </a:solidFill>
                <a:latin typeface="Calibri"/>
              </a:defRPr>
            </a:pPr>
            <a:r>
              <a:t>Nosho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99A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0972800" cy="18288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08760"/>
            <a:ext cx="11155680" cy="502920"/>
          </a:xfrm>
          <a:prstGeom prst="round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Product-Market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&lt; 6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Mois 1 (19 clients)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Excellent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MRR à 6 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1-5k€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2 028€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D45C"/>
                </a:solidFill>
                <a:latin typeface="Calibri"/>
              </a:defRPr>
            </a:pPr>
            <a:r>
              <a:t>Dans la norme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606040"/>
            <a:ext cx="11155680" cy="502920"/>
          </a:xfrm>
          <a:prstGeom prst="round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Croissance MoM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10-20%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~12-15%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Churn mensuel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&lt;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Très bien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703319"/>
            <a:ext cx="11155680" cy="502920"/>
          </a:xfrm>
          <a:prstGeom prst="round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749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Net Revenue 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&gt; 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&gt; 100% (usage)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Très bien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Pipe/MRR ratio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2-4x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2,5x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Sain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800600"/>
            <a:ext cx="11155680" cy="502920"/>
          </a:xfrm>
          <a:prstGeom prst="roundRect">
            <a:avLst/>
          </a:prstGeom>
          <a:solidFill>
            <a:srgbClr val="1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Win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20-40%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37,8%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D45C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394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Time to 10k MRR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CCDD"/>
                </a:solidFill>
                <a:latin typeface="Calibri"/>
              </a:defRPr>
            </a:pPr>
            <a:r>
              <a:t>12-18 mois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Proj. 12-18m (pipe)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En bonne voie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Risques &amp; Recommandations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5669280" cy="53035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EF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8C8C"/>
                </a:solidFill>
                <a:latin typeface="Calibri"/>
              </a:defRPr>
            </a:pPr>
            <a:r>
              <a:t>Risques identifiés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8C8C"/>
                </a:solidFill>
                <a:latin typeface="Calibri"/>
              </a:defRPr>
            </a:pPr>
            <a:r>
              <a:t>Concentration pipe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Oxance + DocCity = 45% du pipe.</a:t>
            </a:r>
            <a:br/>
            <a:r>
              <a:t>Si ces 2 deals tombent, le pipe revient à la normale.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8C8C"/>
                </a:solidFill>
                <a:latin typeface="Calibri"/>
              </a:defRPr>
            </a:pPr>
            <a:r>
              <a:t>Capacité commerciale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96 deals, 234 contacts, mais 4 tasks overdue</a:t>
            </a:r>
            <a:br/>
            <a:r>
              <a:t>et seulement 8 deal notes ce mois. Le suivi est tendu.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8C8C"/>
                </a:solidFill>
                <a:latin typeface="Calibri"/>
              </a:defRPr>
            </a:pPr>
            <a:r>
              <a:t>Acquisition post-lancement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3-4 clients/mois après les 19 du launch.</a:t>
            </a:r>
            <a:br/>
            <a:r>
              <a:t>Le funnel inbound semble limité.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035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8C8C"/>
                </a:solidFill>
                <a:latin typeface="Calibri"/>
              </a:defRPr>
            </a:pPr>
            <a:r>
              <a:t>Contacts froids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68% des contacts sont cold.</a:t>
            </a:r>
            <a:br/>
            <a:r>
              <a:t>Le réchauffement est trop lent.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05840"/>
            <a:ext cx="5486400" cy="53035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88B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8BF4D"/>
                </a:solidFill>
                <a:latin typeface="Calibri"/>
              </a:defRPr>
            </a:pPr>
            <a:r>
              <a:t>Recommandations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Renfort commercial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Recruter 1 SDR/BDR pour alimenter le funnel</a:t>
            </a:r>
            <a:br/>
            <a:r>
              <a:t>et libérer du temps pour closer les gros comptes.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26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Nurturing automatisé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4612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Mettre en place des séquences email</a:t>
            </a:r>
            <a:br/>
            <a:r>
              <a:t>pour réchauffer les 160 contacts cold.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114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Focus gros comptes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4348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Prioriser les 5 deals à 500€+.</a:t>
            </a:r>
            <a:br/>
            <a:r>
              <a:t>Chaque conversion = +25-125% du MRR.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303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BF4D"/>
                </a:solidFill>
                <a:latin typeface="Calibri"/>
              </a:defRPr>
            </a:pPr>
            <a:r>
              <a:t>Accélérer les trials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6235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5 trials en cours = 1 208€ MRR potentiel.</a:t>
            </a:r>
            <a:br/>
            <a:r>
              <a:t>Réduire le cycle trial → conversion.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88B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92024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8BF4D"/>
                </a:solidFill>
                <a:latin typeface="Calibri"/>
              </a:defRPr>
            </a:pPr>
            <a:r>
              <a:t>Confiant, avec un point d'inflexion imminent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26080"/>
            <a:ext cx="81683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  Les fondamentaux sont solides : 0% churn, NRR &gt; 100%, PMF confirmé en mois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429000"/>
            <a:ext cx="81683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  Le shift upmarket (ARPU x7,7 dans le pipe) est le signal le plus 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931920"/>
            <a:ext cx="81683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  Le pipeline pondéré (5 000€) promet un doublement du MRR d'ici fin 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434840"/>
            <a:ext cx="81683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  Le facteur limitant n'est ni le produit ni le marché — c'est la capacité commerciale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937760"/>
            <a:ext cx="81683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  Trajectoire comparable aux meilleurs SaaS B2B vertical santé à ce stade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Nosho — Mars 2026 | Données Mollie + CRM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